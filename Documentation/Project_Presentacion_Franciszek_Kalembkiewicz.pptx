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ooper Hewitt Bold" charset="1" panose="00000000000000000000"/>
      <p:regular r:id="rId16"/>
    </p:embeddedFont>
    <p:embeddedFont>
      <p:font typeface="Cooper Hewitt" charset="1" panose="00000000000000000000"/>
      <p:regular r:id="rId17"/>
    </p:embeddedFont>
    <p:embeddedFont>
      <p:font typeface="DM Sans Bold" charset="1" panose="00000000000000000000"/>
      <p:regular r:id="rId18"/>
    </p:embeddedFont>
    <p:embeddedFont>
      <p:font typeface="DM Sans"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12" Target="../media/image35.png" Type="http://schemas.openxmlformats.org/officeDocument/2006/relationships/image"/><Relationship Id="rId13" Target="../media/image3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722887" y="-4247682"/>
            <a:ext cx="19258069" cy="19258069"/>
          </a:xfrm>
          <a:custGeom>
            <a:avLst/>
            <a:gdLst/>
            <a:ahLst/>
            <a:cxnLst/>
            <a:rect r="r" b="b" t="t" l="l"/>
            <a:pathLst>
              <a:path h="19258069" w="19258069">
                <a:moveTo>
                  <a:pt x="0" y="0"/>
                </a:moveTo>
                <a:lnTo>
                  <a:pt x="19258069" y="0"/>
                </a:lnTo>
                <a:lnTo>
                  <a:pt x="19258069" y="19258069"/>
                </a:lnTo>
                <a:lnTo>
                  <a:pt x="0" y="19258069"/>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218332" y="2731879"/>
            <a:ext cx="3701593" cy="4723610"/>
          </a:xfrm>
          <a:custGeom>
            <a:avLst/>
            <a:gdLst/>
            <a:ahLst/>
            <a:cxnLst/>
            <a:rect r="r" b="b" t="t" l="l"/>
            <a:pathLst>
              <a:path h="4723610" w="3701593">
                <a:moveTo>
                  <a:pt x="0" y="0"/>
                </a:moveTo>
                <a:lnTo>
                  <a:pt x="3701593" y="0"/>
                </a:lnTo>
                <a:lnTo>
                  <a:pt x="3701593" y="4723610"/>
                </a:lnTo>
                <a:lnTo>
                  <a:pt x="0" y="4723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9456031" y="5686468"/>
            <a:ext cx="3718302" cy="2393234"/>
          </a:xfrm>
          <a:custGeom>
            <a:avLst/>
            <a:gdLst/>
            <a:ahLst/>
            <a:cxnLst/>
            <a:rect r="r" b="b" t="t" l="l"/>
            <a:pathLst>
              <a:path h="2393234" w="3718302">
                <a:moveTo>
                  <a:pt x="0" y="0"/>
                </a:moveTo>
                <a:lnTo>
                  <a:pt x="3718301" y="0"/>
                </a:lnTo>
                <a:lnTo>
                  <a:pt x="3718301" y="2393234"/>
                </a:lnTo>
                <a:lnTo>
                  <a:pt x="0" y="23932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4377104" y="3974852"/>
            <a:ext cx="2882196" cy="3943304"/>
          </a:xfrm>
          <a:custGeom>
            <a:avLst/>
            <a:gdLst/>
            <a:ahLst/>
            <a:cxnLst/>
            <a:rect r="r" b="b" t="t" l="l"/>
            <a:pathLst>
              <a:path h="3943304" w="2882196">
                <a:moveTo>
                  <a:pt x="0" y="0"/>
                </a:moveTo>
                <a:lnTo>
                  <a:pt x="2882196" y="0"/>
                </a:lnTo>
                <a:lnTo>
                  <a:pt x="2882196" y="3943304"/>
                </a:lnTo>
                <a:lnTo>
                  <a:pt x="0" y="39433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028700" y="3013229"/>
            <a:ext cx="9904619" cy="2392562"/>
          </a:xfrm>
          <a:prstGeom prst="rect">
            <a:avLst/>
          </a:prstGeom>
        </p:spPr>
        <p:txBody>
          <a:bodyPr anchor="t" rtlCol="false" tIns="0" lIns="0" bIns="0" rIns="0">
            <a:spAutoFit/>
          </a:bodyPr>
          <a:lstStyle/>
          <a:p>
            <a:pPr algn="l">
              <a:lnSpc>
                <a:spcPts val="16818"/>
              </a:lnSpc>
            </a:pPr>
            <a:r>
              <a:rPr lang="en-US" sz="12013" b="true">
                <a:solidFill>
                  <a:srgbClr val="343434"/>
                </a:solidFill>
                <a:latin typeface="Cooper Hewitt Bold"/>
                <a:ea typeface="Cooper Hewitt Bold"/>
                <a:cs typeface="Cooper Hewitt Bold"/>
                <a:sym typeface="Cooper Hewitt Bold"/>
              </a:rPr>
              <a:t>PREDICTION</a:t>
            </a:r>
          </a:p>
        </p:txBody>
      </p:sp>
      <p:sp>
        <p:nvSpPr>
          <p:cNvPr name="TextBox 8" id="8"/>
          <p:cNvSpPr txBox="true"/>
          <p:nvPr/>
        </p:nvSpPr>
        <p:spPr>
          <a:xfrm rot="0">
            <a:off x="1028700" y="4620822"/>
            <a:ext cx="8626948" cy="2081449"/>
          </a:xfrm>
          <a:prstGeom prst="rect">
            <a:avLst/>
          </a:prstGeom>
        </p:spPr>
        <p:txBody>
          <a:bodyPr anchor="t" rtlCol="false" tIns="0" lIns="0" bIns="0" rIns="0">
            <a:spAutoFit/>
          </a:bodyPr>
          <a:lstStyle/>
          <a:p>
            <a:pPr algn="l">
              <a:lnSpc>
                <a:spcPts val="14649"/>
              </a:lnSpc>
            </a:pPr>
            <a:r>
              <a:rPr lang="en-US" sz="10463">
                <a:solidFill>
                  <a:srgbClr val="343434"/>
                </a:solidFill>
                <a:latin typeface="Cooper Hewitt"/>
                <a:ea typeface="Cooper Hewitt"/>
                <a:cs typeface="Cooper Hewitt"/>
                <a:sym typeface="Cooper Hewitt"/>
              </a:rPr>
              <a:t>IN SPORTS</a:t>
            </a:r>
          </a:p>
        </p:txBody>
      </p:sp>
      <p:sp>
        <p:nvSpPr>
          <p:cNvPr name="TextBox 9" id="9"/>
          <p:cNvSpPr txBox="true"/>
          <p:nvPr/>
        </p:nvSpPr>
        <p:spPr>
          <a:xfrm rot="0">
            <a:off x="1763458" y="1111346"/>
            <a:ext cx="1754287" cy="472169"/>
          </a:xfrm>
          <a:prstGeom prst="rect">
            <a:avLst/>
          </a:prstGeom>
        </p:spPr>
        <p:txBody>
          <a:bodyPr anchor="t" rtlCol="false" tIns="0" lIns="0" bIns="0" rIns="0">
            <a:spAutoFit/>
          </a:bodyPr>
          <a:lstStyle/>
          <a:p>
            <a:pPr algn="l">
              <a:lnSpc>
                <a:spcPts val="1822"/>
              </a:lnSpc>
            </a:pPr>
            <a:r>
              <a:rPr lang="en-US" b="true" sz="1804" spc="-110">
                <a:solidFill>
                  <a:srgbClr val="343434"/>
                </a:solidFill>
                <a:latin typeface="DM Sans Bold"/>
                <a:ea typeface="DM Sans Bold"/>
                <a:cs typeface="DM Sans Bold"/>
                <a:sym typeface="DM Sans Bold"/>
              </a:rPr>
              <a:t>FRANCISZEK</a:t>
            </a:r>
          </a:p>
          <a:p>
            <a:pPr algn="l">
              <a:lnSpc>
                <a:spcPts val="1822"/>
              </a:lnSpc>
            </a:pPr>
            <a:r>
              <a:rPr lang="en-US" b="true" sz="1804" spc="-110">
                <a:solidFill>
                  <a:srgbClr val="343434"/>
                </a:solidFill>
                <a:latin typeface="DM Sans Bold"/>
                <a:ea typeface="DM Sans Bold"/>
                <a:cs typeface="DM Sans Bold"/>
                <a:sym typeface="DM Sans Bold"/>
              </a:rPr>
              <a:t>KALEMBKIEIWCZ</a:t>
            </a:r>
          </a:p>
        </p:txBody>
      </p:sp>
      <p:sp>
        <p:nvSpPr>
          <p:cNvPr name="TextBox 10" id="10"/>
          <p:cNvSpPr txBox="true"/>
          <p:nvPr/>
        </p:nvSpPr>
        <p:spPr>
          <a:xfrm rot="0">
            <a:off x="1055075" y="6673696"/>
            <a:ext cx="7793067" cy="871220"/>
          </a:xfrm>
          <a:prstGeom prst="rect">
            <a:avLst/>
          </a:prstGeom>
        </p:spPr>
        <p:txBody>
          <a:bodyPr anchor="t" rtlCol="false" tIns="0" lIns="0" bIns="0" rIns="0">
            <a:spAutoFit/>
          </a:bodyPr>
          <a:lstStyle/>
          <a:p>
            <a:pPr algn="just">
              <a:lnSpc>
                <a:spcPts val="2380"/>
              </a:lnSpc>
            </a:pPr>
            <a:r>
              <a:rPr lang="en-US" sz="1700">
                <a:solidFill>
                  <a:srgbClr val="343434"/>
                </a:solidFill>
                <a:latin typeface="DM Sans"/>
                <a:ea typeface="DM Sans"/>
                <a:cs typeface="DM Sans"/>
                <a:sym typeface="DM Sans"/>
              </a:rPr>
              <a:t>Can we predict sports results? Let’s explore two methods and check if predictions can be trusted. In this presentation, I’ll show two different approaches to predicting football results and discuss their reliability.</a:t>
            </a:r>
          </a:p>
        </p:txBody>
      </p:sp>
      <p:sp>
        <p:nvSpPr>
          <p:cNvPr name="TextBox 11" id="11"/>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471027" y="2710779"/>
            <a:ext cx="5610468" cy="6246472"/>
          </a:xfrm>
          <a:custGeom>
            <a:avLst/>
            <a:gdLst/>
            <a:ahLst/>
            <a:cxnLst/>
            <a:rect r="r" b="b" t="t" l="l"/>
            <a:pathLst>
              <a:path h="6246472" w="5610468">
                <a:moveTo>
                  <a:pt x="0" y="0"/>
                </a:moveTo>
                <a:lnTo>
                  <a:pt x="5610468" y="0"/>
                </a:lnTo>
                <a:lnTo>
                  <a:pt x="5610468" y="6246472"/>
                </a:lnTo>
                <a:lnTo>
                  <a:pt x="0" y="62464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8700" y="3289454"/>
            <a:ext cx="7072639"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INTRODUCTION</a:t>
            </a:r>
          </a:p>
        </p:txBody>
      </p:sp>
      <p:sp>
        <p:nvSpPr>
          <p:cNvPr name="TextBox 6" id="6"/>
          <p:cNvSpPr txBox="true"/>
          <p:nvPr/>
        </p:nvSpPr>
        <p:spPr>
          <a:xfrm rot="0">
            <a:off x="1028700" y="4645930"/>
            <a:ext cx="6313346" cy="2938145"/>
          </a:xfrm>
          <a:prstGeom prst="rect">
            <a:avLst/>
          </a:prstGeom>
        </p:spPr>
        <p:txBody>
          <a:bodyPr anchor="t" rtlCol="false" tIns="0" lIns="0" bIns="0" rIns="0">
            <a:spAutoFit/>
          </a:bodyPr>
          <a:lstStyle/>
          <a:p>
            <a:pPr algn="just">
              <a:lnSpc>
                <a:spcPts val="2380"/>
              </a:lnSpc>
            </a:pPr>
            <a:r>
              <a:rPr lang="en-US" sz="1700">
                <a:solidFill>
                  <a:srgbClr val="343434"/>
                </a:solidFill>
                <a:latin typeface="DM Sans"/>
                <a:ea typeface="DM Sans"/>
                <a:cs typeface="DM Sans"/>
                <a:sym typeface="DM Sans"/>
              </a:rPr>
              <a:t>Sports are full of surprises. Predicting results is difficult because of the human factor, unexpected events, and the nature of the game itself.</a:t>
            </a:r>
          </a:p>
          <a:p>
            <a:pPr algn="just">
              <a:lnSpc>
                <a:spcPts val="2380"/>
              </a:lnSpc>
            </a:pPr>
            <a:r>
              <a:rPr lang="en-US" sz="1700">
                <a:solidFill>
                  <a:srgbClr val="343434"/>
                </a:solidFill>
                <a:latin typeface="DM Sans"/>
                <a:ea typeface="DM Sans"/>
                <a:cs typeface="DM Sans"/>
                <a:sym typeface="DM Sans"/>
              </a:rPr>
              <a:t>In this presentation, I will test two prediction methods — one based on statistics and another using machine learning — to check if it is possible to predict the final results of a football season.</a:t>
            </a:r>
          </a:p>
          <a:p>
            <a:pPr algn="just">
              <a:lnSpc>
                <a:spcPts val="2380"/>
              </a:lnSpc>
            </a:pPr>
            <a:r>
              <a:rPr lang="en-US" sz="1700">
                <a:solidFill>
                  <a:srgbClr val="343434"/>
                </a:solidFill>
                <a:latin typeface="DM Sans"/>
                <a:ea typeface="DM Sans"/>
                <a:cs typeface="DM Sans"/>
                <a:sym typeface="DM Sans"/>
              </a:rPr>
              <a:t>The main goal is to answer:</a:t>
            </a:r>
          </a:p>
          <a:p>
            <a:pPr algn="just">
              <a:lnSpc>
                <a:spcPts val="2380"/>
              </a:lnSpc>
            </a:pPr>
            <a:r>
              <a:rPr lang="en-US" sz="1700">
                <a:solidFill>
                  <a:srgbClr val="343434"/>
                </a:solidFill>
                <a:latin typeface="DM Sans"/>
                <a:ea typeface="DM Sans"/>
                <a:cs typeface="DM Sans"/>
                <a:sym typeface="DM Sans"/>
              </a:rPr>
              <a:t> Are sports predictable, or are predictions always uncertain?</a:t>
            </a:r>
          </a:p>
          <a:p>
            <a:pPr algn="just">
              <a:lnSpc>
                <a:spcPts val="2380"/>
              </a:lnSpc>
            </a:pPr>
          </a:p>
        </p:txBody>
      </p:sp>
      <p:sp>
        <p:nvSpPr>
          <p:cNvPr name="TextBox 7" id="7"/>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02</a:t>
            </a:r>
          </a:p>
        </p:txBody>
      </p:sp>
      <p:sp>
        <p:nvSpPr>
          <p:cNvPr name="TextBox 8" id="8"/>
          <p:cNvSpPr txBox="true"/>
          <p:nvPr/>
        </p:nvSpPr>
        <p:spPr>
          <a:xfrm rot="0">
            <a:off x="1763458" y="1111346"/>
            <a:ext cx="1754287" cy="472169"/>
          </a:xfrm>
          <a:prstGeom prst="rect">
            <a:avLst/>
          </a:prstGeom>
        </p:spPr>
        <p:txBody>
          <a:bodyPr anchor="t" rtlCol="false" tIns="0" lIns="0" bIns="0" rIns="0">
            <a:spAutoFit/>
          </a:bodyPr>
          <a:lstStyle/>
          <a:p>
            <a:pPr algn="l">
              <a:lnSpc>
                <a:spcPts val="1822"/>
              </a:lnSpc>
            </a:pPr>
            <a:r>
              <a:rPr lang="en-US" b="true" sz="1804" spc="-110">
                <a:solidFill>
                  <a:srgbClr val="343434"/>
                </a:solidFill>
                <a:latin typeface="DM Sans Bold"/>
                <a:ea typeface="DM Sans Bold"/>
                <a:cs typeface="DM Sans Bold"/>
                <a:sym typeface="DM Sans Bold"/>
              </a:rPr>
              <a:t>FRANCISZEK</a:t>
            </a:r>
          </a:p>
          <a:p>
            <a:pPr algn="l">
              <a:lnSpc>
                <a:spcPts val="1822"/>
              </a:lnSpc>
            </a:pPr>
            <a:r>
              <a:rPr lang="en-US" b="true" sz="1804" spc="-110">
                <a:solidFill>
                  <a:srgbClr val="343434"/>
                </a:solidFill>
                <a:latin typeface="DM Sans Bold"/>
                <a:ea typeface="DM Sans Bold"/>
                <a:cs typeface="DM Sans Bold"/>
                <a:sym typeface="DM Sans Bold"/>
              </a:rPr>
              <a:t>KALEMBKIEIWCZ</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155093" y="1849272"/>
            <a:ext cx="7072639"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PREDUCTION</a:t>
            </a:r>
          </a:p>
        </p:txBody>
      </p:sp>
      <p:sp>
        <p:nvSpPr>
          <p:cNvPr name="TextBox 5" id="5"/>
          <p:cNvSpPr txBox="true"/>
          <p:nvPr/>
        </p:nvSpPr>
        <p:spPr>
          <a:xfrm rot="0">
            <a:off x="1697475" y="7091680"/>
            <a:ext cx="5561706" cy="871220"/>
          </a:xfrm>
          <a:prstGeom prst="rect">
            <a:avLst/>
          </a:prstGeom>
        </p:spPr>
        <p:txBody>
          <a:bodyPr anchor="t" rtlCol="false" tIns="0" lIns="0" bIns="0" rIns="0">
            <a:spAutoFit/>
          </a:bodyPr>
          <a:lstStyle/>
          <a:p>
            <a:pPr algn="just">
              <a:lnSpc>
                <a:spcPts val="2380"/>
              </a:lnSpc>
            </a:pPr>
            <a:r>
              <a:rPr lang="en-US" sz="1700">
                <a:solidFill>
                  <a:srgbClr val="343434"/>
                </a:solidFill>
                <a:latin typeface="DM Sans"/>
                <a:ea typeface="DM Sans"/>
                <a:cs typeface="DM Sans"/>
                <a:sym typeface="DM Sans"/>
              </a:rPr>
              <a:t>Based on historical team performance and ELO ratings, this method calculates the probability of each match outcome and simulates the entire season.</a:t>
            </a:r>
          </a:p>
        </p:txBody>
      </p:sp>
      <p:sp>
        <p:nvSpPr>
          <p:cNvPr name="TextBox 6" id="6"/>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03</a:t>
            </a:r>
          </a:p>
        </p:txBody>
      </p:sp>
      <p:sp>
        <p:nvSpPr>
          <p:cNvPr name="TextBox 7" id="7"/>
          <p:cNvSpPr txBox="true"/>
          <p:nvPr/>
        </p:nvSpPr>
        <p:spPr>
          <a:xfrm rot="0">
            <a:off x="1756163" y="6598269"/>
            <a:ext cx="5444331" cy="349250"/>
          </a:xfrm>
          <a:prstGeom prst="rect">
            <a:avLst/>
          </a:prstGeom>
        </p:spPr>
        <p:txBody>
          <a:bodyPr anchor="t" rtlCol="false" tIns="0" lIns="0" bIns="0" rIns="0">
            <a:spAutoFit/>
          </a:bodyPr>
          <a:lstStyle/>
          <a:p>
            <a:pPr algn="ctr">
              <a:lnSpc>
                <a:spcPts val="2800"/>
              </a:lnSpc>
            </a:pPr>
            <a:r>
              <a:rPr lang="en-US" b="true" sz="2000">
                <a:solidFill>
                  <a:srgbClr val="343434"/>
                </a:solidFill>
                <a:latin typeface="DM Sans Bold"/>
                <a:ea typeface="DM Sans Bold"/>
                <a:cs typeface="DM Sans Bold"/>
                <a:sym typeface="DM Sans Bold"/>
              </a:rPr>
              <a:t>STATISTICAL METHOD (ELO + PROBABILITY)</a:t>
            </a:r>
          </a:p>
        </p:txBody>
      </p:sp>
      <p:sp>
        <p:nvSpPr>
          <p:cNvPr name="TextBox 8" id="8"/>
          <p:cNvSpPr txBox="true"/>
          <p:nvPr/>
        </p:nvSpPr>
        <p:spPr>
          <a:xfrm rot="0">
            <a:off x="8040112" y="1849272"/>
            <a:ext cx="7092794" cy="1209674"/>
          </a:xfrm>
          <a:prstGeom prst="rect">
            <a:avLst/>
          </a:prstGeom>
        </p:spPr>
        <p:txBody>
          <a:bodyPr anchor="t" rtlCol="false" tIns="0" lIns="0" bIns="0" rIns="0">
            <a:spAutoFit/>
          </a:bodyPr>
          <a:lstStyle/>
          <a:p>
            <a:pPr algn="r">
              <a:lnSpc>
                <a:spcPts val="8400"/>
              </a:lnSpc>
            </a:pPr>
            <a:r>
              <a:rPr lang="en-US" sz="6000">
                <a:solidFill>
                  <a:srgbClr val="343434"/>
                </a:solidFill>
                <a:latin typeface="Cooper Hewitt"/>
                <a:ea typeface="Cooper Hewitt"/>
                <a:cs typeface="Cooper Hewitt"/>
                <a:sym typeface="Cooper Hewitt"/>
              </a:rPr>
              <a:t>METHODS OVERVIEW</a:t>
            </a:r>
          </a:p>
        </p:txBody>
      </p:sp>
      <p:sp>
        <p:nvSpPr>
          <p:cNvPr name="TextBox 9" id="9"/>
          <p:cNvSpPr txBox="true"/>
          <p:nvPr/>
        </p:nvSpPr>
        <p:spPr>
          <a:xfrm rot="0">
            <a:off x="11029916" y="7091680"/>
            <a:ext cx="5561706" cy="871220"/>
          </a:xfrm>
          <a:prstGeom prst="rect">
            <a:avLst/>
          </a:prstGeom>
        </p:spPr>
        <p:txBody>
          <a:bodyPr anchor="t" rtlCol="false" tIns="0" lIns="0" bIns="0" rIns="0">
            <a:spAutoFit/>
          </a:bodyPr>
          <a:lstStyle/>
          <a:p>
            <a:pPr algn="just">
              <a:lnSpc>
                <a:spcPts val="2380"/>
              </a:lnSpc>
            </a:pPr>
            <a:r>
              <a:rPr lang="en-US" sz="1700">
                <a:solidFill>
                  <a:srgbClr val="343434"/>
                </a:solidFill>
                <a:latin typeface="DM Sans"/>
                <a:ea typeface="DM Sans"/>
                <a:cs typeface="DM Sans"/>
                <a:sym typeface="DM Sans"/>
              </a:rPr>
              <a:t>A model trained on past seasons' data predicts the average number of points each team will get in the upcoming season.</a:t>
            </a:r>
          </a:p>
        </p:txBody>
      </p:sp>
      <p:sp>
        <p:nvSpPr>
          <p:cNvPr name="TextBox 10" id="10"/>
          <p:cNvSpPr txBox="true"/>
          <p:nvPr/>
        </p:nvSpPr>
        <p:spPr>
          <a:xfrm rot="0">
            <a:off x="11556213" y="6598269"/>
            <a:ext cx="4235956" cy="349250"/>
          </a:xfrm>
          <a:prstGeom prst="rect">
            <a:avLst/>
          </a:prstGeom>
        </p:spPr>
        <p:txBody>
          <a:bodyPr anchor="t" rtlCol="false" tIns="0" lIns="0" bIns="0" rIns="0">
            <a:spAutoFit/>
          </a:bodyPr>
          <a:lstStyle/>
          <a:p>
            <a:pPr algn="ctr">
              <a:lnSpc>
                <a:spcPts val="2800"/>
              </a:lnSpc>
            </a:pPr>
            <a:r>
              <a:rPr lang="en-US" b="true" sz="2000">
                <a:solidFill>
                  <a:srgbClr val="343434"/>
                </a:solidFill>
                <a:latin typeface="DM Sans Bold"/>
                <a:ea typeface="DM Sans Bold"/>
                <a:cs typeface="DM Sans Bold"/>
                <a:sym typeface="DM Sans Bold"/>
              </a:rPr>
              <a:t>MACHINE LEARNING METHOD</a:t>
            </a:r>
          </a:p>
        </p:txBody>
      </p:sp>
      <p:sp>
        <p:nvSpPr>
          <p:cNvPr name="TextBox 11" id="11"/>
          <p:cNvSpPr txBox="true"/>
          <p:nvPr/>
        </p:nvSpPr>
        <p:spPr>
          <a:xfrm rot="0">
            <a:off x="1763458" y="1111346"/>
            <a:ext cx="1754287" cy="472169"/>
          </a:xfrm>
          <a:prstGeom prst="rect">
            <a:avLst/>
          </a:prstGeom>
        </p:spPr>
        <p:txBody>
          <a:bodyPr anchor="t" rtlCol="false" tIns="0" lIns="0" bIns="0" rIns="0">
            <a:spAutoFit/>
          </a:bodyPr>
          <a:lstStyle/>
          <a:p>
            <a:pPr algn="l">
              <a:lnSpc>
                <a:spcPts val="1822"/>
              </a:lnSpc>
            </a:pPr>
            <a:r>
              <a:rPr lang="en-US" b="true" sz="1804" spc="-110">
                <a:solidFill>
                  <a:srgbClr val="343434"/>
                </a:solidFill>
                <a:latin typeface="DM Sans Bold"/>
                <a:ea typeface="DM Sans Bold"/>
                <a:cs typeface="DM Sans Bold"/>
                <a:sym typeface="DM Sans Bold"/>
              </a:rPr>
              <a:t>FRANCISZEK</a:t>
            </a:r>
          </a:p>
          <a:p>
            <a:pPr algn="l">
              <a:lnSpc>
                <a:spcPts val="1822"/>
              </a:lnSpc>
            </a:pPr>
            <a:r>
              <a:rPr lang="en-US" b="true" sz="1804" spc="-110">
                <a:solidFill>
                  <a:srgbClr val="343434"/>
                </a:solidFill>
                <a:latin typeface="DM Sans Bold"/>
                <a:ea typeface="DM Sans Bold"/>
                <a:cs typeface="DM Sans Bold"/>
                <a:sym typeface="DM Sans Bold"/>
              </a:rPr>
              <a:t>KALEMBKIEIWCZ</a:t>
            </a:r>
          </a:p>
        </p:txBody>
      </p:sp>
      <p:sp>
        <p:nvSpPr>
          <p:cNvPr name="Freeform 12" id="12"/>
          <p:cNvSpPr/>
          <p:nvPr/>
        </p:nvSpPr>
        <p:spPr>
          <a:xfrm flipH="false" flipV="false" rot="0">
            <a:off x="12500182" y="3311358"/>
            <a:ext cx="2348017" cy="3082123"/>
          </a:xfrm>
          <a:custGeom>
            <a:avLst/>
            <a:gdLst/>
            <a:ahLst/>
            <a:cxnLst/>
            <a:rect r="r" b="b" t="t" l="l"/>
            <a:pathLst>
              <a:path h="3082123" w="2348017">
                <a:moveTo>
                  <a:pt x="0" y="0"/>
                </a:moveTo>
                <a:lnTo>
                  <a:pt x="2348017" y="0"/>
                </a:lnTo>
                <a:lnTo>
                  <a:pt x="2348017" y="3082123"/>
                </a:lnTo>
                <a:lnTo>
                  <a:pt x="0" y="30821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3" id="13"/>
          <p:cNvSpPr/>
          <p:nvPr/>
        </p:nvSpPr>
        <p:spPr>
          <a:xfrm flipH="false" flipV="false" rot="0">
            <a:off x="3155093" y="3233053"/>
            <a:ext cx="1754804" cy="3238733"/>
          </a:xfrm>
          <a:custGeom>
            <a:avLst/>
            <a:gdLst/>
            <a:ahLst/>
            <a:cxnLst/>
            <a:rect r="r" b="b" t="t" l="l"/>
            <a:pathLst>
              <a:path h="3238733" w="1754804">
                <a:moveTo>
                  <a:pt x="0" y="0"/>
                </a:moveTo>
                <a:lnTo>
                  <a:pt x="1754805" y="0"/>
                </a:lnTo>
                <a:lnTo>
                  <a:pt x="1754805" y="3238733"/>
                </a:lnTo>
                <a:lnTo>
                  <a:pt x="0" y="32387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369622" y="1980623"/>
            <a:ext cx="8294014" cy="6325753"/>
          </a:xfrm>
          <a:custGeom>
            <a:avLst/>
            <a:gdLst/>
            <a:ahLst/>
            <a:cxnLst/>
            <a:rect r="r" b="b" t="t" l="l"/>
            <a:pathLst>
              <a:path h="6325753" w="8294014">
                <a:moveTo>
                  <a:pt x="0" y="0"/>
                </a:moveTo>
                <a:lnTo>
                  <a:pt x="8294014" y="0"/>
                </a:lnTo>
                <a:lnTo>
                  <a:pt x="8294014" y="6325754"/>
                </a:lnTo>
                <a:lnTo>
                  <a:pt x="0" y="6325754"/>
                </a:lnTo>
                <a:lnTo>
                  <a:pt x="0" y="0"/>
                </a:lnTo>
                <a:close/>
              </a:path>
            </a:pathLst>
          </a:custGeom>
          <a:blipFill>
            <a:blip r:embed="rId6"/>
            <a:stretch>
              <a:fillRect l="0" t="0" r="-13834" b="0"/>
            </a:stretch>
          </a:blipFill>
        </p:spPr>
      </p:sp>
      <p:sp>
        <p:nvSpPr>
          <p:cNvPr name="TextBox 5" id="5"/>
          <p:cNvSpPr txBox="true"/>
          <p:nvPr/>
        </p:nvSpPr>
        <p:spPr>
          <a:xfrm rot="0">
            <a:off x="1028700" y="2338090"/>
            <a:ext cx="8115300"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STATISTICAL METHOD</a:t>
            </a:r>
          </a:p>
        </p:txBody>
      </p:sp>
      <p:sp>
        <p:nvSpPr>
          <p:cNvPr name="TextBox 6" id="6"/>
          <p:cNvSpPr txBox="true"/>
          <p:nvPr/>
        </p:nvSpPr>
        <p:spPr>
          <a:xfrm rot="0">
            <a:off x="1028700" y="4720751"/>
            <a:ext cx="6804271" cy="2938145"/>
          </a:xfrm>
          <a:prstGeom prst="rect">
            <a:avLst/>
          </a:prstGeom>
        </p:spPr>
        <p:txBody>
          <a:bodyPr anchor="t" rtlCol="false" tIns="0" lIns="0" bIns="0" rIns="0">
            <a:spAutoFit/>
          </a:bodyPr>
          <a:lstStyle/>
          <a:p>
            <a:pPr algn="just">
              <a:lnSpc>
                <a:spcPts val="2380"/>
              </a:lnSpc>
            </a:pPr>
            <a:r>
              <a:rPr lang="en-US" sz="1700">
                <a:solidFill>
                  <a:srgbClr val="343434"/>
                </a:solidFill>
                <a:latin typeface="DM Sans"/>
                <a:ea typeface="DM Sans"/>
                <a:cs typeface="DM Sans"/>
                <a:sym typeface="DM Sans"/>
              </a:rPr>
              <a:t>This method uses historical ELO ratings to calculate the probability of each match result.</a:t>
            </a:r>
          </a:p>
          <a:p>
            <a:pPr algn="just">
              <a:lnSpc>
                <a:spcPts val="2380"/>
              </a:lnSpc>
            </a:pPr>
            <a:r>
              <a:rPr lang="en-US" sz="1700">
                <a:solidFill>
                  <a:srgbClr val="343434"/>
                </a:solidFill>
                <a:latin typeface="DM Sans"/>
                <a:ea typeface="DM Sans"/>
                <a:cs typeface="DM Sans"/>
                <a:sym typeface="DM Sans"/>
              </a:rPr>
              <a:t>Based on these probabilities, two types of results are generated:</a:t>
            </a:r>
          </a:p>
          <a:p>
            <a:pPr algn="just">
              <a:lnSpc>
                <a:spcPts val="2380"/>
              </a:lnSpc>
            </a:pPr>
            <a:r>
              <a:rPr lang="en-US" sz="1700">
                <a:solidFill>
                  <a:srgbClr val="343434"/>
                </a:solidFill>
                <a:latin typeface="DM Sans"/>
                <a:ea typeface="DM Sans"/>
                <a:cs typeface="DM Sans"/>
                <a:sym typeface="DM Sans"/>
              </a:rPr>
              <a:t> — Expected Points — the average points a team should get, calculated from probabilities.</a:t>
            </a:r>
          </a:p>
          <a:p>
            <a:pPr algn="just">
              <a:lnSpc>
                <a:spcPts val="2380"/>
              </a:lnSpc>
            </a:pPr>
            <a:r>
              <a:rPr lang="en-US" sz="1700">
                <a:solidFill>
                  <a:srgbClr val="343434"/>
                </a:solidFill>
                <a:latin typeface="DM Sans"/>
                <a:ea typeface="DM Sans"/>
                <a:cs typeface="DM Sans"/>
                <a:sym typeface="DM Sans"/>
              </a:rPr>
              <a:t> — Simulated Points — random points generated from the same probabilities, representing one possible scenario of the season.*</a:t>
            </a:r>
          </a:p>
          <a:p>
            <a:pPr algn="just">
              <a:lnSpc>
                <a:spcPts val="2380"/>
              </a:lnSpc>
            </a:pPr>
            <a:r>
              <a:rPr lang="en-US" sz="1700">
                <a:solidFill>
                  <a:srgbClr val="343434"/>
                </a:solidFill>
                <a:latin typeface="DM Sans"/>
                <a:ea typeface="DM Sans"/>
                <a:cs typeface="DM Sans"/>
                <a:sym typeface="DM Sans"/>
              </a:rPr>
              <a:t>This approach shows how likely each outcome is, but not the exact final result.</a:t>
            </a:r>
          </a:p>
          <a:p>
            <a:pPr algn="just">
              <a:lnSpc>
                <a:spcPts val="2380"/>
              </a:lnSpc>
            </a:pPr>
          </a:p>
        </p:txBody>
      </p:sp>
      <p:sp>
        <p:nvSpPr>
          <p:cNvPr name="TextBox 7" id="7"/>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04</a:t>
            </a:r>
          </a:p>
        </p:txBody>
      </p:sp>
      <p:sp>
        <p:nvSpPr>
          <p:cNvPr name="TextBox 8" id="8"/>
          <p:cNvSpPr txBox="true"/>
          <p:nvPr/>
        </p:nvSpPr>
        <p:spPr>
          <a:xfrm rot="0">
            <a:off x="1028700" y="3121576"/>
            <a:ext cx="7072639" cy="1209674"/>
          </a:xfrm>
          <a:prstGeom prst="rect">
            <a:avLst/>
          </a:prstGeom>
        </p:spPr>
        <p:txBody>
          <a:bodyPr anchor="t" rtlCol="false" tIns="0" lIns="0" bIns="0" rIns="0">
            <a:spAutoFit/>
          </a:bodyPr>
          <a:lstStyle/>
          <a:p>
            <a:pPr algn="l">
              <a:lnSpc>
                <a:spcPts val="8400"/>
              </a:lnSpc>
            </a:pPr>
            <a:r>
              <a:rPr lang="en-US" sz="6000">
                <a:solidFill>
                  <a:srgbClr val="343434"/>
                </a:solidFill>
                <a:latin typeface="Cooper Hewitt"/>
                <a:ea typeface="Cooper Hewitt"/>
                <a:cs typeface="Cooper Hewitt"/>
                <a:sym typeface="Cooper Hewitt"/>
              </a:rPr>
              <a:t>ELO &amp; PROBABILITY</a:t>
            </a:r>
          </a:p>
        </p:txBody>
      </p:sp>
      <p:sp>
        <p:nvSpPr>
          <p:cNvPr name="TextBox 9" id="9"/>
          <p:cNvSpPr txBox="true"/>
          <p:nvPr/>
        </p:nvSpPr>
        <p:spPr>
          <a:xfrm rot="0">
            <a:off x="1763458" y="1111346"/>
            <a:ext cx="1754287" cy="472169"/>
          </a:xfrm>
          <a:prstGeom prst="rect">
            <a:avLst/>
          </a:prstGeom>
        </p:spPr>
        <p:txBody>
          <a:bodyPr anchor="t" rtlCol="false" tIns="0" lIns="0" bIns="0" rIns="0">
            <a:spAutoFit/>
          </a:bodyPr>
          <a:lstStyle/>
          <a:p>
            <a:pPr algn="l">
              <a:lnSpc>
                <a:spcPts val="1822"/>
              </a:lnSpc>
            </a:pPr>
            <a:r>
              <a:rPr lang="en-US" b="true" sz="1804" spc="-110">
                <a:solidFill>
                  <a:srgbClr val="343434"/>
                </a:solidFill>
                <a:latin typeface="DM Sans Bold"/>
                <a:ea typeface="DM Sans Bold"/>
                <a:cs typeface="DM Sans Bold"/>
                <a:sym typeface="DM Sans Bold"/>
              </a:rPr>
              <a:t>FRANCISZEK</a:t>
            </a:r>
          </a:p>
          <a:p>
            <a:pPr algn="l">
              <a:lnSpc>
                <a:spcPts val="1822"/>
              </a:lnSpc>
            </a:pPr>
            <a:r>
              <a:rPr lang="en-US" b="true" sz="1804" spc="-110">
                <a:solidFill>
                  <a:srgbClr val="343434"/>
                </a:solidFill>
                <a:latin typeface="DM Sans Bold"/>
                <a:ea typeface="DM Sans Bold"/>
                <a:cs typeface="DM Sans Bold"/>
                <a:sym typeface="DM Sans Bold"/>
              </a:rPr>
              <a:t>KALEMBKIEIWCZ</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3914" y="2282504"/>
            <a:ext cx="7880086" cy="6861496"/>
          </a:xfrm>
          <a:custGeom>
            <a:avLst/>
            <a:gdLst/>
            <a:ahLst/>
            <a:cxnLst/>
            <a:rect r="r" b="b" t="t" l="l"/>
            <a:pathLst>
              <a:path h="6861496" w="7880086">
                <a:moveTo>
                  <a:pt x="0" y="0"/>
                </a:moveTo>
                <a:lnTo>
                  <a:pt x="7880086" y="0"/>
                </a:lnTo>
                <a:lnTo>
                  <a:pt x="7880086" y="6861496"/>
                </a:lnTo>
                <a:lnTo>
                  <a:pt x="0" y="6861496"/>
                </a:lnTo>
                <a:lnTo>
                  <a:pt x="0" y="0"/>
                </a:lnTo>
                <a:close/>
              </a:path>
            </a:pathLst>
          </a:custGeom>
          <a:blipFill>
            <a:blip r:embed="rId6"/>
            <a:stretch>
              <a:fillRect l="0" t="0" r="0" b="0"/>
            </a:stretch>
          </a:blipFill>
        </p:spPr>
      </p:sp>
      <p:sp>
        <p:nvSpPr>
          <p:cNvPr name="Freeform 5" id="5"/>
          <p:cNvSpPr/>
          <p:nvPr/>
        </p:nvSpPr>
        <p:spPr>
          <a:xfrm flipH="false" flipV="false" rot="0">
            <a:off x="10788135" y="2282504"/>
            <a:ext cx="5230091" cy="6861496"/>
          </a:xfrm>
          <a:custGeom>
            <a:avLst/>
            <a:gdLst/>
            <a:ahLst/>
            <a:cxnLst/>
            <a:rect r="r" b="b" t="t" l="l"/>
            <a:pathLst>
              <a:path h="6861496" w="5230091">
                <a:moveTo>
                  <a:pt x="0" y="0"/>
                </a:moveTo>
                <a:lnTo>
                  <a:pt x="5230091" y="0"/>
                </a:lnTo>
                <a:lnTo>
                  <a:pt x="5230091" y="6861496"/>
                </a:lnTo>
                <a:lnTo>
                  <a:pt x="0" y="6861496"/>
                </a:lnTo>
                <a:lnTo>
                  <a:pt x="0" y="0"/>
                </a:lnTo>
                <a:close/>
              </a:path>
            </a:pathLst>
          </a:custGeom>
          <a:blipFill>
            <a:blip r:embed="rId7"/>
            <a:stretch>
              <a:fillRect l="0" t="0" r="0" b="0"/>
            </a:stretch>
          </a:blipFill>
        </p:spPr>
      </p:sp>
      <p:sp>
        <p:nvSpPr>
          <p:cNvPr name="TextBox 6" id="6"/>
          <p:cNvSpPr txBox="true"/>
          <p:nvPr/>
        </p:nvSpPr>
        <p:spPr>
          <a:xfrm rot="0">
            <a:off x="4043689" y="580668"/>
            <a:ext cx="8115300"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STATISTICAL METHOD</a:t>
            </a:r>
          </a:p>
        </p:txBody>
      </p:sp>
      <p:sp>
        <p:nvSpPr>
          <p:cNvPr name="TextBox 7" id="7"/>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05</a:t>
            </a:r>
          </a:p>
        </p:txBody>
      </p:sp>
      <p:sp>
        <p:nvSpPr>
          <p:cNvPr name="TextBox 8" id="8"/>
          <p:cNvSpPr txBox="true"/>
          <p:nvPr/>
        </p:nvSpPr>
        <p:spPr>
          <a:xfrm rot="0">
            <a:off x="11892796" y="580668"/>
            <a:ext cx="7072639" cy="1209674"/>
          </a:xfrm>
          <a:prstGeom prst="rect">
            <a:avLst/>
          </a:prstGeom>
        </p:spPr>
        <p:txBody>
          <a:bodyPr anchor="t" rtlCol="false" tIns="0" lIns="0" bIns="0" rIns="0">
            <a:spAutoFit/>
          </a:bodyPr>
          <a:lstStyle/>
          <a:p>
            <a:pPr algn="l">
              <a:lnSpc>
                <a:spcPts val="8400"/>
              </a:lnSpc>
            </a:pPr>
            <a:r>
              <a:rPr lang="en-US" sz="6000">
                <a:solidFill>
                  <a:srgbClr val="343434"/>
                </a:solidFill>
                <a:latin typeface="Cooper Hewitt"/>
                <a:ea typeface="Cooper Hewitt"/>
                <a:cs typeface="Cooper Hewitt"/>
                <a:sym typeface="Cooper Hewitt"/>
              </a:rPr>
              <a:t>RESULTS</a:t>
            </a:r>
          </a:p>
        </p:txBody>
      </p:sp>
      <p:sp>
        <p:nvSpPr>
          <p:cNvPr name="TextBox 9" id="9"/>
          <p:cNvSpPr txBox="true"/>
          <p:nvPr/>
        </p:nvSpPr>
        <p:spPr>
          <a:xfrm rot="0">
            <a:off x="1763458" y="1111346"/>
            <a:ext cx="1754287" cy="472169"/>
          </a:xfrm>
          <a:prstGeom prst="rect">
            <a:avLst/>
          </a:prstGeom>
        </p:spPr>
        <p:txBody>
          <a:bodyPr anchor="t" rtlCol="false" tIns="0" lIns="0" bIns="0" rIns="0">
            <a:spAutoFit/>
          </a:bodyPr>
          <a:lstStyle/>
          <a:p>
            <a:pPr algn="l">
              <a:lnSpc>
                <a:spcPts val="1822"/>
              </a:lnSpc>
            </a:pPr>
            <a:r>
              <a:rPr lang="en-US" b="true" sz="1804" spc="-110">
                <a:solidFill>
                  <a:srgbClr val="343434"/>
                </a:solidFill>
                <a:latin typeface="DM Sans Bold"/>
                <a:ea typeface="DM Sans Bold"/>
                <a:cs typeface="DM Sans Bold"/>
                <a:sym typeface="DM Sans Bold"/>
              </a:rPr>
              <a:t>FRANCISZEK</a:t>
            </a:r>
          </a:p>
          <a:p>
            <a:pPr algn="l">
              <a:lnSpc>
                <a:spcPts val="1822"/>
              </a:lnSpc>
            </a:pPr>
            <a:r>
              <a:rPr lang="en-US" b="true" sz="1804" spc="-110">
                <a:solidFill>
                  <a:srgbClr val="343434"/>
                </a:solidFill>
                <a:latin typeface="DM Sans Bold"/>
                <a:ea typeface="DM Sans Bold"/>
                <a:cs typeface="DM Sans Bold"/>
                <a:sym typeface="DM Sans Bold"/>
              </a:rPr>
              <a:t>KALEMBKIEIWCZ</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586129" y="2172757"/>
            <a:ext cx="9283573" cy="5941486"/>
          </a:xfrm>
          <a:custGeom>
            <a:avLst/>
            <a:gdLst/>
            <a:ahLst/>
            <a:cxnLst/>
            <a:rect r="r" b="b" t="t" l="l"/>
            <a:pathLst>
              <a:path h="5941486" w="9283573">
                <a:moveTo>
                  <a:pt x="0" y="0"/>
                </a:moveTo>
                <a:lnTo>
                  <a:pt x="9283572" y="0"/>
                </a:lnTo>
                <a:lnTo>
                  <a:pt x="9283572" y="5941486"/>
                </a:lnTo>
                <a:lnTo>
                  <a:pt x="0" y="5941486"/>
                </a:lnTo>
                <a:lnTo>
                  <a:pt x="0" y="0"/>
                </a:lnTo>
                <a:close/>
              </a:path>
            </a:pathLst>
          </a:custGeom>
          <a:blipFill>
            <a:blip r:embed="rId6"/>
            <a:stretch>
              <a:fillRect l="0" t="0" r="0" b="0"/>
            </a:stretch>
          </a:blipFill>
        </p:spPr>
      </p:sp>
      <p:sp>
        <p:nvSpPr>
          <p:cNvPr name="TextBox 5" id="5"/>
          <p:cNvSpPr txBox="true"/>
          <p:nvPr/>
        </p:nvSpPr>
        <p:spPr>
          <a:xfrm rot="0">
            <a:off x="1055075" y="1952627"/>
            <a:ext cx="7072639"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MACHINE LEARNING</a:t>
            </a:r>
          </a:p>
        </p:txBody>
      </p:sp>
      <p:sp>
        <p:nvSpPr>
          <p:cNvPr name="TextBox 6" id="6"/>
          <p:cNvSpPr txBox="true"/>
          <p:nvPr/>
        </p:nvSpPr>
        <p:spPr>
          <a:xfrm rot="0">
            <a:off x="1055075" y="5119005"/>
            <a:ext cx="6543798" cy="2347595"/>
          </a:xfrm>
          <a:prstGeom prst="rect">
            <a:avLst/>
          </a:prstGeom>
        </p:spPr>
        <p:txBody>
          <a:bodyPr anchor="t" rtlCol="false" tIns="0" lIns="0" bIns="0" rIns="0">
            <a:spAutoFit/>
          </a:bodyPr>
          <a:lstStyle/>
          <a:p>
            <a:pPr algn="just">
              <a:lnSpc>
                <a:spcPts val="2380"/>
              </a:lnSpc>
            </a:pPr>
            <a:r>
              <a:rPr lang="en-US" sz="1700">
                <a:solidFill>
                  <a:srgbClr val="343434"/>
                </a:solidFill>
                <a:latin typeface="DM Sans"/>
                <a:ea typeface="DM Sans"/>
                <a:cs typeface="DM Sans"/>
                <a:sym typeface="DM Sans"/>
              </a:rPr>
              <a:t>This method uses historical season data to train a machine learning model.</a:t>
            </a:r>
          </a:p>
          <a:p>
            <a:pPr algn="just">
              <a:lnSpc>
                <a:spcPts val="2380"/>
              </a:lnSpc>
            </a:pPr>
            <a:r>
              <a:rPr lang="en-US" sz="1700">
                <a:solidFill>
                  <a:srgbClr val="343434"/>
                </a:solidFill>
                <a:latin typeface="DM Sans"/>
                <a:ea typeface="DM Sans"/>
                <a:cs typeface="DM Sans"/>
                <a:sym typeface="DM Sans"/>
              </a:rPr>
              <a:t>The model predicts the expected average number of points a team will collect in the upcoming season, based on patterns from past results.</a:t>
            </a:r>
          </a:p>
          <a:p>
            <a:pPr algn="just">
              <a:lnSpc>
                <a:spcPts val="2380"/>
              </a:lnSpc>
            </a:pPr>
            <a:r>
              <a:rPr lang="en-US" sz="1700">
                <a:solidFill>
                  <a:srgbClr val="343434"/>
                </a:solidFill>
                <a:latin typeface="DM Sans"/>
                <a:ea typeface="DM Sans"/>
                <a:cs typeface="DM Sans"/>
                <a:sym typeface="DM Sans"/>
              </a:rPr>
              <a:t>Unlike the statistical method, here the prediction is not based on probabilities, but on learned trends in the data.</a:t>
            </a:r>
          </a:p>
          <a:p>
            <a:pPr algn="just">
              <a:lnSpc>
                <a:spcPts val="2380"/>
              </a:lnSpc>
            </a:pPr>
          </a:p>
        </p:txBody>
      </p:sp>
      <p:sp>
        <p:nvSpPr>
          <p:cNvPr name="TextBox 7" id="7"/>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06</a:t>
            </a:r>
          </a:p>
        </p:txBody>
      </p:sp>
      <p:sp>
        <p:nvSpPr>
          <p:cNvPr name="TextBox 8" id="8"/>
          <p:cNvSpPr txBox="true"/>
          <p:nvPr/>
        </p:nvSpPr>
        <p:spPr>
          <a:xfrm rot="0">
            <a:off x="1028700" y="2867026"/>
            <a:ext cx="8323167" cy="2276474"/>
          </a:xfrm>
          <a:prstGeom prst="rect">
            <a:avLst/>
          </a:prstGeom>
        </p:spPr>
        <p:txBody>
          <a:bodyPr anchor="t" rtlCol="false" tIns="0" lIns="0" bIns="0" rIns="0">
            <a:spAutoFit/>
          </a:bodyPr>
          <a:lstStyle/>
          <a:p>
            <a:pPr algn="l">
              <a:lnSpc>
                <a:spcPts val="8400"/>
              </a:lnSpc>
            </a:pPr>
            <a:r>
              <a:rPr lang="en-US" sz="6000">
                <a:solidFill>
                  <a:srgbClr val="343434"/>
                </a:solidFill>
                <a:latin typeface="Cooper Hewitt"/>
                <a:ea typeface="Cooper Hewitt"/>
                <a:cs typeface="Cooper Hewitt"/>
                <a:sym typeface="Cooper Hewitt"/>
              </a:rPr>
              <a:t>METHOD PREDICTING POINTS</a:t>
            </a:r>
          </a:p>
        </p:txBody>
      </p:sp>
      <p:sp>
        <p:nvSpPr>
          <p:cNvPr name="TextBox 9" id="9"/>
          <p:cNvSpPr txBox="true"/>
          <p:nvPr/>
        </p:nvSpPr>
        <p:spPr>
          <a:xfrm rot="0">
            <a:off x="1763458" y="1111346"/>
            <a:ext cx="1754287" cy="472169"/>
          </a:xfrm>
          <a:prstGeom prst="rect">
            <a:avLst/>
          </a:prstGeom>
        </p:spPr>
        <p:txBody>
          <a:bodyPr anchor="t" rtlCol="false" tIns="0" lIns="0" bIns="0" rIns="0">
            <a:spAutoFit/>
          </a:bodyPr>
          <a:lstStyle/>
          <a:p>
            <a:pPr algn="l">
              <a:lnSpc>
                <a:spcPts val="1822"/>
              </a:lnSpc>
            </a:pPr>
            <a:r>
              <a:rPr lang="en-US" b="true" sz="1804" spc="-110">
                <a:solidFill>
                  <a:srgbClr val="343434"/>
                </a:solidFill>
                <a:latin typeface="DM Sans Bold"/>
                <a:ea typeface="DM Sans Bold"/>
                <a:cs typeface="DM Sans Bold"/>
                <a:sym typeface="DM Sans Bold"/>
              </a:rPr>
              <a:t>FRANCISZEK</a:t>
            </a:r>
          </a:p>
          <a:p>
            <a:pPr algn="l">
              <a:lnSpc>
                <a:spcPts val="1822"/>
              </a:lnSpc>
            </a:pPr>
            <a:r>
              <a:rPr lang="en-US" b="true" sz="1804" spc="-110">
                <a:solidFill>
                  <a:srgbClr val="343434"/>
                </a:solidFill>
                <a:latin typeface="DM Sans Bold"/>
                <a:ea typeface="DM Sans Bold"/>
                <a:cs typeface="DM Sans Bold"/>
                <a:sym typeface="DM Sans Bold"/>
              </a:rPr>
              <a:t>KALEMBKIEIWCZ</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16685" y="2678063"/>
            <a:ext cx="8849483" cy="5807473"/>
          </a:xfrm>
          <a:custGeom>
            <a:avLst/>
            <a:gdLst/>
            <a:ahLst/>
            <a:cxnLst/>
            <a:rect r="r" b="b" t="t" l="l"/>
            <a:pathLst>
              <a:path h="5807473" w="8849483">
                <a:moveTo>
                  <a:pt x="0" y="0"/>
                </a:moveTo>
                <a:lnTo>
                  <a:pt x="8849483" y="0"/>
                </a:lnTo>
                <a:lnTo>
                  <a:pt x="8849483" y="5807473"/>
                </a:lnTo>
                <a:lnTo>
                  <a:pt x="0" y="5807473"/>
                </a:lnTo>
                <a:lnTo>
                  <a:pt x="0" y="0"/>
                </a:lnTo>
                <a:close/>
              </a:path>
            </a:pathLst>
          </a:custGeom>
          <a:blipFill>
            <a:blip r:embed="rId6"/>
            <a:stretch>
              <a:fillRect l="0" t="0" r="0" b="0"/>
            </a:stretch>
          </a:blipFill>
        </p:spPr>
      </p:sp>
      <p:sp>
        <p:nvSpPr>
          <p:cNvPr name="Freeform 5" id="5"/>
          <p:cNvSpPr/>
          <p:nvPr/>
        </p:nvSpPr>
        <p:spPr>
          <a:xfrm flipH="false" flipV="false" rot="0">
            <a:off x="10880807" y="2220241"/>
            <a:ext cx="5170316" cy="6723117"/>
          </a:xfrm>
          <a:custGeom>
            <a:avLst/>
            <a:gdLst/>
            <a:ahLst/>
            <a:cxnLst/>
            <a:rect r="r" b="b" t="t" l="l"/>
            <a:pathLst>
              <a:path h="6723117" w="5170316">
                <a:moveTo>
                  <a:pt x="0" y="0"/>
                </a:moveTo>
                <a:lnTo>
                  <a:pt x="5170316" y="0"/>
                </a:lnTo>
                <a:lnTo>
                  <a:pt x="5170316" y="6723117"/>
                </a:lnTo>
                <a:lnTo>
                  <a:pt x="0" y="6723117"/>
                </a:lnTo>
                <a:lnTo>
                  <a:pt x="0" y="0"/>
                </a:lnTo>
                <a:close/>
              </a:path>
            </a:pathLst>
          </a:custGeom>
          <a:blipFill>
            <a:blip r:embed="rId7"/>
            <a:stretch>
              <a:fillRect l="0" t="0" r="0" b="0"/>
            </a:stretch>
          </a:blipFill>
        </p:spPr>
      </p:sp>
      <p:sp>
        <p:nvSpPr>
          <p:cNvPr name="TextBox 6" id="6"/>
          <p:cNvSpPr txBox="true"/>
          <p:nvPr/>
        </p:nvSpPr>
        <p:spPr>
          <a:xfrm rot="0">
            <a:off x="3808169" y="580668"/>
            <a:ext cx="7072639"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MACHINE LEARNING</a:t>
            </a:r>
          </a:p>
        </p:txBody>
      </p:sp>
      <p:sp>
        <p:nvSpPr>
          <p:cNvPr name="TextBox 7" id="7"/>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07</a:t>
            </a:r>
          </a:p>
        </p:txBody>
      </p:sp>
      <p:sp>
        <p:nvSpPr>
          <p:cNvPr name="TextBox 8" id="8"/>
          <p:cNvSpPr txBox="true"/>
          <p:nvPr/>
        </p:nvSpPr>
        <p:spPr>
          <a:xfrm rot="0">
            <a:off x="10985582" y="580668"/>
            <a:ext cx="3301320" cy="1209674"/>
          </a:xfrm>
          <a:prstGeom prst="rect">
            <a:avLst/>
          </a:prstGeom>
        </p:spPr>
        <p:txBody>
          <a:bodyPr anchor="t" rtlCol="false" tIns="0" lIns="0" bIns="0" rIns="0">
            <a:spAutoFit/>
          </a:bodyPr>
          <a:lstStyle/>
          <a:p>
            <a:pPr algn="l">
              <a:lnSpc>
                <a:spcPts val="8400"/>
              </a:lnSpc>
            </a:pPr>
            <a:r>
              <a:rPr lang="en-US" sz="6000">
                <a:solidFill>
                  <a:srgbClr val="343434"/>
                </a:solidFill>
                <a:latin typeface="Cooper Hewitt"/>
                <a:ea typeface="Cooper Hewitt"/>
                <a:cs typeface="Cooper Hewitt"/>
                <a:sym typeface="Cooper Hewitt"/>
              </a:rPr>
              <a:t>RESULTS</a:t>
            </a:r>
          </a:p>
        </p:txBody>
      </p:sp>
      <p:sp>
        <p:nvSpPr>
          <p:cNvPr name="TextBox 9" id="9"/>
          <p:cNvSpPr txBox="true"/>
          <p:nvPr/>
        </p:nvSpPr>
        <p:spPr>
          <a:xfrm rot="0">
            <a:off x="1763458" y="1111346"/>
            <a:ext cx="1754287" cy="472169"/>
          </a:xfrm>
          <a:prstGeom prst="rect">
            <a:avLst/>
          </a:prstGeom>
        </p:spPr>
        <p:txBody>
          <a:bodyPr anchor="t" rtlCol="false" tIns="0" lIns="0" bIns="0" rIns="0">
            <a:spAutoFit/>
          </a:bodyPr>
          <a:lstStyle/>
          <a:p>
            <a:pPr algn="l">
              <a:lnSpc>
                <a:spcPts val="1822"/>
              </a:lnSpc>
            </a:pPr>
            <a:r>
              <a:rPr lang="en-US" b="true" sz="1804" spc="-110">
                <a:solidFill>
                  <a:srgbClr val="343434"/>
                </a:solidFill>
                <a:latin typeface="DM Sans Bold"/>
                <a:ea typeface="DM Sans Bold"/>
                <a:cs typeface="DM Sans Bold"/>
                <a:sym typeface="DM Sans Bold"/>
              </a:rPr>
              <a:t>FRANCISZEK</a:t>
            </a:r>
          </a:p>
          <a:p>
            <a:pPr algn="l">
              <a:lnSpc>
                <a:spcPts val="1822"/>
              </a:lnSpc>
            </a:pPr>
            <a:r>
              <a:rPr lang="en-US" b="true" sz="1804" spc="-110">
                <a:solidFill>
                  <a:srgbClr val="343434"/>
                </a:solidFill>
                <a:latin typeface="DM Sans Bold"/>
                <a:ea typeface="DM Sans Bold"/>
                <a:cs typeface="DM Sans Bold"/>
                <a:sym typeface="DM Sans Bold"/>
              </a:rPr>
              <a:t>KALEMBKIEIWCZ</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796364" y="4321622"/>
            <a:ext cx="695271" cy="887460"/>
          </a:xfrm>
          <a:custGeom>
            <a:avLst/>
            <a:gdLst/>
            <a:ahLst/>
            <a:cxnLst/>
            <a:rect r="r" b="b" t="t" l="l"/>
            <a:pathLst>
              <a:path h="887460" w="695271">
                <a:moveTo>
                  <a:pt x="0" y="0"/>
                </a:moveTo>
                <a:lnTo>
                  <a:pt x="695272" y="0"/>
                </a:lnTo>
                <a:lnTo>
                  <a:pt x="695272" y="887460"/>
                </a:lnTo>
                <a:lnTo>
                  <a:pt x="0" y="8874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318190" y="1800553"/>
            <a:ext cx="7072639"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CONCLUSIONS</a:t>
            </a:r>
          </a:p>
        </p:txBody>
      </p:sp>
      <p:sp>
        <p:nvSpPr>
          <p:cNvPr name="TextBox 6" id="6"/>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08</a:t>
            </a:r>
          </a:p>
        </p:txBody>
      </p:sp>
      <p:sp>
        <p:nvSpPr>
          <p:cNvPr name="TextBox 7" id="7"/>
          <p:cNvSpPr txBox="true"/>
          <p:nvPr/>
        </p:nvSpPr>
        <p:spPr>
          <a:xfrm rot="0">
            <a:off x="8263393" y="1800553"/>
            <a:ext cx="6706417" cy="1209674"/>
          </a:xfrm>
          <a:prstGeom prst="rect">
            <a:avLst/>
          </a:prstGeom>
        </p:spPr>
        <p:txBody>
          <a:bodyPr anchor="t" rtlCol="false" tIns="0" lIns="0" bIns="0" rIns="0">
            <a:spAutoFit/>
          </a:bodyPr>
          <a:lstStyle/>
          <a:p>
            <a:pPr algn="r">
              <a:lnSpc>
                <a:spcPts val="8400"/>
              </a:lnSpc>
            </a:pPr>
            <a:r>
              <a:rPr lang="en-US" sz="6000">
                <a:solidFill>
                  <a:srgbClr val="343434"/>
                </a:solidFill>
                <a:latin typeface="Cooper Hewitt"/>
                <a:ea typeface="Cooper Hewitt"/>
                <a:cs typeface="Cooper Hewitt"/>
                <a:sym typeface="Cooper Hewitt"/>
              </a:rPr>
              <a:t>PREDICTION LIMITS</a:t>
            </a:r>
          </a:p>
        </p:txBody>
      </p:sp>
      <p:grpSp>
        <p:nvGrpSpPr>
          <p:cNvPr name="Group 8" id="8"/>
          <p:cNvGrpSpPr/>
          <p:nvPr/>
        </p:nvGrpSpPr>
        <p:grpSpPr>
          <a:xfrm rot="0">
            <a:off x="11967009" y="4321622"/>
            <a:ext cx="4054734" cy="2673330"/>
            <a:chOff x="0" y="0"/>
            <a:chExt cx="5406312" cy="3564440"/>
          </a:xfrm>
        </p:grpSpPr>
        <p:sp>
          <p:nvSpPr>
            <p:cNvPr name="Freeform 9" id="9"/>
            <p:cNvSpPr/>
            <p:nvPr/>
          </p:nvSpPr>
          <p:spPr>
            <a:xfrm flipH="false" flipV="false" rot="0">
              <a:off x="1925163" y="0"/>
              <a:ext cx="1248258" cy="1183280"/>
            </a:xfrm>
            <a:custGeom>
              <a:avLst/>
              <a:gdLst/>
              <a:ahLst/>
              <a:cxnLst/>
              <a:rect r="r" b="b" t="t" l="l"/>
              <a:pathLst>
                <a:path h="1183280" w="1248258">
                  <a:moveTo>
                    <a:pt x="0" y="0"/>
                  </a:moveTo>
                  <a:lnTo>
                    <a:pt x="1248258" y="0"/>
                  </a:lnTo>
                  <a:lnTo>
                    <a:pt x="1248258" y="1183280"/>
                  </a:lnTo>
                  <a:lnTo>
                    <a:pt x="0" y="1183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0" y="2412338"/>
              <a:ext cx="5406312" cy="1152102"/>
            </a:xfrm>
            <a:prstGeom prst="rect">
              <a:avLst/>
            </a:prstGeom>
          </p:spPr>
          <p:txBody>
            <a:bodyPr anchor="t" rtlCol="false" tIns="0" lIns="0" bIns="0" rIns="0">
              <a:spAutoFit/>
            </a:bodyPr>
            <a:lstStyle/>
            <a:p>
              <a:pPr algn="just">
                <a:lnSpc>
                  <a:spcPts val="2380"/>
                </a:lnSpc>
              </a:pPr>
              <a:r>
                <a:rPr lang="en-US" sz="1700">
                  <a:solidFill>
                    <a:srgbClr val="343434"/>
                  </a:solidFill>
                  <a:latin typeface="DM Sans"/>
                  <a:ea typeface="DM Sans"/>
                  <a:cs typeface="DM Sans"/>
                  <a:sym typeface="DM Sans"/>
                </a:rPr>
                <a:t>Even advanced models can only show likely scenarios, not exact outcomes. The real world is always more random.</a:t>
              </a:r>
            </a:p>
          </p:txBody>
        </p:sp>
        <p:sp>
          <p:nvSpPr>
            <p:cNvPr name="TextBox 11" id="11"/>
            <p:cNvSpPr txBox="true"/>
            <p:nvPr/>
          </p:nvSpPr>
          <p:spPr>
            <a:xfrm rot="0">
              <a:off x="528933" y="1330722"/>
              <a:ext cx="4348447" cy="919692"/>
            </a:xfrm>
            <a:prstGeom prst="rect">
              <a:avLst/>
            </a:prstGeom>
          </p:spPr>
          <p:txBody>
            <a:bodyPr anchor="t" rtlCol="false" tIns="0" lIns="0" bIns="0" rIns="0">
              <a:spAutoFit/>
            </a:bodyPr>
            <a:lstStyle/>
            <a:p>
              <a:pPr algn="ctr">
                <a:lnSpc>
                  <a:spcPts val="2800"/>
                </a:lnSpc>
              </a:pPr>
              <a:r>
                <a:rPr lang="en-US" b="true" sz="2000">
                  <a:solidFill>
                    <a:srgbClr val="343434"/>
                  </a:solidFill>
                  <a:latin typeface="DM Sans Bold"/>
                  <a:ea typeface="DM Sans Bold"/>
                  <a:cs typeface="DM Sans Bold"/>
                  <a:sym typeface="DM Sans Bold"/>
                </a:rPr>
                <a:t>PREDICTIONS ARE NOT REALITY</a:t>
              </a:r>
            </a:p>
          </p:txBody>
        </p:sp>
      </p:grpSp>
      <p:sp>
        <p:nvSpPr>
          <p:cNvPr name="TextBox 12" id="12"/>
          <p:cNvSpPr txBox="true"/>
          <p:nvPr/>
        </p:nvSpPr>
        <p:spPr>
          <a:xfrm rot="0">
            <a:off x="7116633" y="5906717"/>
            <a:ext cx="4054734" cy="871220"/>
          </a:xfrm>
          <a:prstGeom prst="rect">
            <a:avLst/>
          </a:prstGeom>
        </p:spPr>
        <p:txBody>
          <a:bodyPr anchor="t" rtlCol="false" tIns="0" lIns="0" bIns="0" rIns="0">
            <a:spAutoFit/>
          </a:bodyPr>
          <a:lstStyle/>
          <a:p>
            <a:pPr algn="just">
              <a:lnSpc>
                <a:spcPts val="2380"/>
              </a:lnSpc>
            </a:pPr>
            <a:r>
              <a:rPr lang="en-US" sz="1700">
                <a:solidFill>
                  <a:srgbClr val="343434"/>
                </a:solidFill>
                <a:latin typeface="DM Sans"/>
                <a:ea typeface="DM Sans"/>
                <a:cs typeface="DM Sans"/>
                <a:sym typeface="DM Sans"/>
              </a:rPr>
              <a:t>Sports results depend on injuries, motivation, mistakes, and emotions. Numbers alone can’t capture all of this.</a:t>
            </a:r>
          </a:p>
        </p:txBody>
      </p:sp>
      <p:sp>
        <p:nvSpPr>
          <p:cNvPr name="TextBox 13" id="13"/>
          <p:cNvSpPr txBox="true"/>
          <p:nvPr/>
        </p:nvSpPr>
        <p:spPr>
          <a:xfrm rot="0">
            <a:off x="7236072" y="5373749"/>
            <a:ext cx="3815856" cy="349250"/>
          </a:xfrm>
          <a:prstGeom prst="rect">
            <a:avLst/>
          </a:prstGeom>
        </p:spPr>
        <p:txBody>
          <a:bodyPr anchor="t" rtlCol="false" tIns="0" lIns="0" bIns="0" rIns="0">
            <a:spAutoFit/>
          </a:bodyPr>
          <a:lstStyle/>
          <a:p>
            <a:pPr algn="ctr" marL="0" indent="0" lvl="0">
              <a:lnSpc>
                <a:spcPts val="2800"/>
              </a:lnSpc>
              <a:spcBef>
                <a:spcPct val="0"/>
              </a:spcBef>
            </a:pPr>
            <a:r>
              <a:rPr lang="en-US" b="true" sz="2000">
                <a:solidFill>
                  <a:srgbClr val="343434"/>
                </a:solidFill>
                <a:latin typeface="DM Sans Bold"/>
                <a:ea typeface="DM Sans Bold"/>
                <a:cs typeface="DM Sans Bold"/>
                <a:sym typeface="DM Sans Bold"/>
              </a:rPr>
              <a:t>TOO M</a:t>
            </a:r>
            <a:r>
              <a:rPr lang="en-US" b="true" sz="2000" strike="noStrike" u="none">
                <a:solidFill>
                  <a:srgbClr val="343434"/>
                </a:solidFill>
                <a:latin typeface="DM Sans Bold"/>
                <a:ea typeface="DM Sans Bold"/>
                <a:cs typeface="DM Sans Bold"/>
                <a:sym typeface="DM Sans Bold"/>
              </a:rPr>
              <a:t>ANY HUMAN FACTORS</a:t>
            </a:r>
          </a:p>
        </p:txBody>
      </p:sp>
      <p:grpSp>
        <p:nvGrpSpPr>
          <p:cNvPr name="Group 14" id="14"/>
          <p:cNvGrpSpPr/>
          <p:nvPr/>
        </p:nvGrpSpPr>
        <p:grpSpPr>
          <a:xfrm rot="0">
            <a:off x="2147499" y="4321622"/>
            <a:ext cx="4054734" cy="2987607"/>
            <a:chOff x="0" y="0"/>
            <a:chExt cx="5406312" cy="3983476"/>
          </a:xfrm>
        </p:grpSpPr>
        <p:sp>
          <p:nvSpPr>
            <p:cNvPr name="Freeform 15" id="15"/>
            <p:cNvSpPr/>
            <p:nvPr/>
          </p:nvSpPr>
          <p:spPr>
            <a:xfrm flipH="false" flipV="false" rot="0">
              <a:off x="1956384" y="0"/>
              <a:ext cx="1185816" cy="1183280"/>
            </a:xfrm>
            <a:custGeom>
              <a:avLst/>
              <a:gdLst/>
              <a:ahLst/>
              <a:cxnLst/>
              <a:rect r="r" b="b" t="t" l="l"/>
              <a:pathLst>
                <a:path h="1183280" w="1185816">
                  <a:moveTo>
                    <a:pt x="0" y="0"/>
                  </a:moveTo>
                  <a:lnTo>
                    <a:pt x="1185816" y="0"/>
                  </a:lnTo>
                  <a:lnTo>
                    <a:pt x="1185816" y="1183280"/>
                  </a:lnTo>
                  <a:lnTo>
                    <a:pt x="0" y="11832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0" y="2437675"/>
              <a:ext cx="5406312" cy="1545802"/>
            </a:xfrm>
            <a:prstGeom prst="rect">
              <a:avLst/>
            </a:prstGeom>
          </p:spPr>
          <p:txBody>
            <a:bodyPr anchor="t" rtlCol="false" tIns="0" lIns="0" bIns="0" rIns="0">
              <a:spAutoFit/>
            </a:bodyPr>
            <a:lstStyle/>
            <a:p>
              <a:pPr algn="just">
                <a:lnSpc>
                  <a:spcPts val="2380"/>
                </a:lnSpc>
              </a:pPr>
              <a:r>
                <a:rPr lang="en-US" sz="1700">
                  <a:solidFill>
                    <a:srgbClr val="343434"/>
                  </a:solidFill>
                  <a:latin typeface="DM Sans"/>
                  <a:ea typeface="DM Sans"/>
                  <a:cs typeface="DM Sans"/>
                  <a:sym typeface="DM Sans"/>
                </a:rPr>
                <a:t>Predictions for mid-table teams are usually close to reality, but extreme cases — top and bottom teams — are much harder to predict.</a:t>
              </a:r>
            </a:p>
          </p:txBody>
        </p:sp>
        <p:sp>
          <p:nvSpPr>
            <p:cNvPr name="TextBox 17" id="17"/>
            <p:cNvSpPr txBox="true"/>
            <p:nvPr/>
          </p:nvSpPr>
          <p:spPr>
            <a:xfrm rot="0">
              <a:off x="203696" y="1384845"/>
              <a:ext cx="4998919" cy="919692"/>
            </a:xfrm>
            <a:prstGeom prst="rect">
              <a:avLst/>
            </a:prstGeom>
          </p:spPr>
          <p:txBody>
            <a:bodyPr anchor="t" rtlCol="false" tIns="0" lIns="0" bIns="0" rIns="0">
              <a:spAutoFit/>
            </a:bodyPr>
            <a:lstStyle/>
            <a:p>
              <a:pPr algn="ctr" marL="0" indent="0" lvl="0">
                <a:lnSpc>
                  <a:spcPts val="2800"/>
                </a:lnSpc>
                <a:spcBef>
                  <a:spcPct val="0"/>
                </a:spcBef>
              </a:pPr>
              <a:r>
                <a:rPr lang="en-US" b="true" sz="2000">
                  <a:solidFill>
                    <a:srgbClr val="343434"/>
                  </a:solidFill>
                  <a:latin typeface="DM Sans Bold"/>
                  <a:ea typeface="DM Sans Bold"/>
                  <a:cs typeface="DM Sans Bold"/>
                  <a:sym typeface="DM Sans Bold"/>
                </a:rPr>
                <a:t>MIDDLE OF </a:t>
              </a:r>
              <a:r>
                <a:rPr lang="en-US" b="true" sz="2000" strike="noStrike" u="none">
                  <a:solidFill>
                    <a:srgbClr val="343434"/>
                  </a:solidFill>
                  <a:latin typeface="DM Sans Bold"/>
                  <a:ea typeface="DM Sans Bold"/>
                  <a:cs typeface="DM Sans Bold"/>
                  <a:sym typeface="DM Sans Bold"/>
                </a:rPr>
                <a:t>THE TABLE IS PREDICTABLE</a:t>
              </a:r>
            </a:p>
          </p:txBody>
        </p:sp>
      </p:grpSp>
      <p:sp>
        <p:nvSpPr>
          <p:cNvPr name="TextBox 18" id="18"/>
          <p:cNvSpPr txBox="true"/>
          <p:nvPr/>
        </p:nvSpPr>
        <p:spPr>
          <a:xfrm rot="0">
            <a:off x="1763458" y="1111346"/>
            <a:ext cx="1754287" cy="472169"/>
          </a:xfrm>
          <a:prstGeom prst="rect">
            <a:avLst/>
          </a:prstGeom>
        </p:spPr>
        <p:txBody>
          <a:bodyPr anchor="t" rtlCol="false" tIns="0" lIns="0" bIns="0" rIns="0">
            <a:spAutoFit/>
          </a:bodyPr>
          <a:lstStyle/>
          <a:p>
            <a:pPr algn="l">
              <a:lnSpc>
                <a:spcPts val="1822"/>
              </a:lnSpc>
            </a:pPr>
            <a:r>
              <a:rPr lang="en-US" b="true" sz="1804" spc="-110">
                <a:solidFill>
                  <a:srgbClr val="343434"/>
                </a:solidFill>
                <a:latin typeface="DM Sans Bold"/>
                <a:ea typeface="DM Sans Bold"/>
                <a:cs typeface="DM Sans Bold"/>
                <a:sym typeface="DM Sans Bold"/>
              </a:rPr>
              <a:t>FRANCISZEK</a:t>
            </a:r>
          </a:p>
          <a:p>
            <a:pPr algn="l">
              <a:lnSpc>
                <a:spcPts val="1822"/>
              </a:lnSpc>
            </a:pPr>
            <a:r>
              <a:rPr lang="en-US" b="true" sz="1804" spc="-110">
                <a:solidFill>
                  <a:srgbClr val="343434"/>
                </a:solidFill>
                <a:latin typeface="DM Sans Bold"/>
                <a:ea typeface="DM Sans Bold"/>
                <a:cs typeface="DM Sans Bold"/>
                <a:sym typeface="DM Sans Bold"/>
              </a:rPr>
              <a:t>KALEMBKIEIWCZ</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601508" y="1912631"/>
            <a:ext cx="4652055" cy="6106516"/>
          </a:xfrm>
          <a:custGeom>
            <a:avLst/>
            <a:gdLst/>
            <a:ahLst/>
            <a:cxnLst/>
            <a:rect r="r" b="b" t="t" l="l"/>
            <a:pathLst>
              <a:path h="6106516" w="4652055">
                <a:moveTo>
                  <a:pt x="0" y="0"/>
                </a:moveTo>
                <a:lnTo>
                  <a:pt x="4652055" y="0"/>
                </a:lnTo>
                <a:lnTo>
                  <a:pt x="4652055" y="6106516"/>
                </a:lnTo>
                <a:lnTo>
                  <a:pt x="0" y="61065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722613" y="3588656"/>
            <a:ext cx="2597247" cy="4793577"/>
          </a:xfrm>
          <a:custGeom>
            <a:avLst/>
            <a:gdLst/>
            <a:ahLst/>
            <a:cxnLst/>
            <a:rect r="r" b="b" t="t" l="l"/>
            <a:pathLst>
              <a:path h="4793577" w="2597247">
                <a:moveTo>
                  <a:pt x="0" y="0"/>
                </a:moveTo>
                <a:lnTo>
                  <a:pt x="2597247" y="0"/>
                </a:lnTo>
                <a:lnTo>
                  <a:pt x="2597247" y="4793577"/>
                </a:lnTo>
                <a:lnTo>
                  <a:pt x="0" y="47935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028700" y="2403571"/>
            <a:ext cx="7072639" cy="1209674"/>
          </a:xfrm>
          <a:prstGeom prst="rect">
            <a:avLst/>
          </a:prstGeom>
        </p:spPr>
        <p:txBody>
          <a:bodyPr anchor="t" rtlCol="false" tIns="0" lIns="0" bIns="0" rIns="0">
            <a:spAutoFit/>
          </a:bodyPr>
          <a:lstStyle/>
          <a:p>
            <a:pPr algn="l">
              <a:lnSpc>
                <a:spcPts val="8400"/>
              </a:lnSpc>
            </a:pPr>
            <a:r>
              <a:rPr lang="en-US" sz="6000" b="true">
                <a:solidFill>
                  <a:srgbClr val="343434"/>
                </a:solidFill>
                <a:latin typeface="Cooper Hewitt Bold"/>
                <a:ea typeface="Cooper Hewitt Bold"/>
                <a:cs typeface="Cooper Hewitt Bold"/>
                <a:sym typeface="Cooper Hewitt Bold"/>
              </a:rPr>
              <a:t>FINAL</a:t>
            </a:r>
          </a:p>
        </p:txBody>
      </p:sp>
      <p:sp>
        <p:nvSpPr>
          <p:cNvPr name="TextBox 7" id="7"/>
          <p:cNvSpPr txBox="true"/>
          <p:nvPr/>
        </p:nvSpPr>
        <p:spPr>
          <a:xfrm rot="0">
            <a:off x="1028700" y="4654810"/>
            <a:ext cx="6543798" cy="3528695"/>
          </a:xfrm>
          <a:prstGeom prst="rect">
            <a:avLst/>
          </a:prstGeom>
        </p:spPr>
        <p:txBody>
          <a:bodyPr anchor="t" rtlCol="false" tIns="0" lIns="0" bIns="0" rIns="0">
            <a:spAutoFit/>
          </a:bodyPr>
          <a:lstStyle/>
          <a:p>
            <a:pPr algn="just">
              <a:lnSpc>
                <a:spcPts val="2380"/>
              </a:lnSpc>
            </a:pPr>
            <a:r>
              <a:rPr lang="en-US" sz="1700">
                <a:solidFill>
                  <a:srgbClr val="343434"/>
                </a:solidFill>
                <a:latin typeface="DM Sans"/>
                <a:ea typeface="DM Sans"/>
                <a:cs typeface="DM Sans"/>
                <a:sym typeface="DM Sans"/>
              </a:rPr>
              <a:t>After testing both prediction methods, the hypothesis has been confirmed.</a:t>
            </a:r>
          </a:p>
          <a:p>
            <a:pPr algn="just">
              <a:lnSpc>
                <a:spcPts val="2380"/>
              </a:lnSpc>
            </a:pPr>
            <a:r>
              <a:rPr lang="en-US" sz="1700">
                <a:solidFill>
                  <a:srgbClr val="343434"/>
                </a:solidFill>
                <a:latin typeface="DM Sans"/>
                <a:ea typeface="DM Sans"/>
                <a:cs typeface="DM Sans"/>
                <a:sym typeface="DM Sans"/>
              </a:rPr>
              <a:t> It is not possible to predict sports results with full accuracy.</a:t>
            </a:r>
          </a:p>
          <a:p>
            <a:pPr algn="just">
              <a:lnSpc>
                <a:spcPts val="2380"/>
              </a:lnSpc>
            </a:pPr>
            <a:r>
              <a:rPr lang="en-US" sz="1700">
                <a:solidFill>
                  <a:srgbClr val="343434"/>
                </a:solidFill>
                <a:latin typeface="DM Sans"/>
                <a:ea typeface="DM Sans"/>
                <a:cs typeface="DM Sans"/>
                <a:sym typeface="DM Sans"/>
              </a:rPr>
              <a:t>While mathematical models and machine learning can show us tendencies and give a general view of possible outcomes, the real world is far more complex.</a:t>
            </a:r>
          </a:p>
          <a:p>
            <a:pPr algn="just">
              <a:lnSpc>
                <a:spcPts val="2380"/>
              </a:lnSpc>
            </a:pPr>
            <a:r>
              <a:rPr lang="en-US" sz="1700">
                <a:solidFill>
                  <a:srgbClr val="343434"/>
                </a:solidFill>
                <a:latin typeface="DM Sans"/>
                <a:ea typeface="DM Sans"/>
                <a:cs typeface="DM Sans"/>
                <a:sym typeface="DM Sans"/>
              </a:rPr>
              <a:t>Human factors, emotions, unexpected events and pure luck make football — and sports in general — too unpredictable for any model to be fully reliable.</a:t>
            </a:r>
          </a:p>
          <a:p>
            <a:pPr algn="just">
              <a:lnSpc>
                <a:spcPts val="2380"/>
              </a:lnSpc>
            </a:pPr>
            <a:r>
              <a:rPr lang="en-US" sz="1700">
                <a:solidFill>
                  <a:srgbClr val="343434"/>
                </a:solidFill>
                <a:latin typeface="DM Sans"/>
                <a:ea typeface="DM Sans"/>
                <a:cs typeface="DM Sans"/>
                <a:sym typeface="DM Sans"/>
              </a:rPr>
              <a:t>Predictions are useful for understanding the game, but they will always remain only an approximation, not a guarantee.</a:t>
            </a:r>
          </a:p>
          <a:p>
            <a:pPr algn="just">
              <a:lnSpc>
                <a:spcPts val="2380"/>
              </a:lnSpc>
            </a:pPr>
          </a:p>
        </p:txBody>
      </p:sp>
      <p:sp>
        <p:nvSpPr>
          <p:cNvPr name="TextBox 8" id="8"/>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09</a:t>
            </a:r>
          </a:p>
        </p:txBody>
      </p:sp>
      <p:sp>
        <p:nvSpPr>
          <p:cNvPr name="TextBox 9" id="9"/>
          <p:cNvSpPr txBox="true"/>
          <p:nvPr/>
        </p:nvSpPr>
        <p:spPr>
          <a:xfrm rot="0">
            <a:off x="1055075" y="3293381"/>
            <a:ext cx="7072639" cy="1209674"/>
          </a:xfrm>
          <a:prstGeom prst="rect">
            <a:avLst/>
          </a:prstGeom>
        </p:spPr>
        <p:txBody>
          <a:bodyPr anchor="t" rtlCol="false" tIns="0" lIns="0" bIns="0" rIns="0">
            <a:spAutoFit/>
          </a:bodyPr>
          <a:lstStyle/>
          <a:p>
            <a:pPr algn="l">
              <a:lnSpc>
                <a:spcPts val="8400"/>
              </a:lnSpc>
            </a:pPr>
            <a:r>
              <a:rPr lang="en-US" sz="6000">
                <a:solidFill>
                  <a:srgbClr val="343434"/>
                </a:solidFill>
                <a:latin typeface="Cooper Hewitt"/>
                <a:ea typeface="Cooper Hewitt"/>
                <a:cs typeface="Cooper Hewitt"/>
                <a:sym typeface="Cooper Hewitt"/>
              </a:rPr>
              <a:t>CONCLUSION</a:t>
            </a:r>
          </a:p>
        </p:txBody>
      </p:sp>
      <p:sp>
        <p:nvSpPr>
          <p:cNvPr name="TextBox 10" id="10"/>
          <p:cNvSpPr txBox="true"/>
          <p:nvPr/>
        </p:nvSpPr>
        <p:spPr>
          <a:xfrm rot="0">
            <a:off x="1763458" y="1111346"/>
            <a:ext cx="1754287" cy="472169"/>
          </a:xfrm>
          <a:prstGeom prst="rect">
            <a:avLst/>
          </a:prstGeom>
        </p:spPr>
        <p:txBody>
          <a:bodyPr anchor="t" rtlCol="false" tIns="0" lIns="0" bIns="0" rIns="0">
            <a:spAutoFit/>
          </a:bodyPr>
          <a:lstStyle/>
          <a:p>
            <a:pPr algn="l">
              <a:lnSpc>
                <a:spcPts val="1822"/>
              </a:lnSpc>
            </a:pPr>
            <a:r>
              <a:rPr lang="en-US" b="true" sz="1804" spc="-110">
                <a:solidFill>
                  <a:srgbClr val="343434"/>
                </a:solidFill>
                <a:latin typeface="DM Sans Bold"/>
                <a:ea typeface="DM Sans Bold"/>
                <a:cs typeface="DM Sans Bold"/>
                <a:sym typeface="DM Sans Bold"/>
              </a:rPr>
              <a:t>FRANCISZEK</a:t>
            </a:r>
          </a:p>
          <a:p>
            <a:pPr algn="l">
              <a:lnSpc>
                <a:spcPts val="1822"/>
              </a:lnSpc>
            </a:pPr>
            <a:r>
              <a:rPr lang="en-US" b="true" sz="1804" spc="-110">
                <a:solidFill>
                  <a:srgbClr val="343434"/>
                </a:solidFill>
                <a:latin typeface="DM Sans Bold"/>
                <a:ea typeface="DM Sans Bold"/>
                <a:cs typeface="DM Sans Bold"/>
                <a:sym typeface="DM Sans Bold"/>
              </a:rPr>
              <a:t>KALEMBKIEIWCZ</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5EC"/>
        </a:solidFill>
      </p:bgPr>
    </p:bg>
    <p:spTree>
      <p:nvGrpSpPr>
        <p:cNvPr id="1" name=""/>
        <p:cNvGrpSpPr/>
        <p:nvPr/>
      </p:nvGrpSpPr>
      <p:grpSpPr>
        <a:xfrm>
          <a:off x="0" y="0"/>
          <a:ext cx="0" cy="0"/>
          <a:chOff x="0" y="0"/>
          <a:chExt cx="0" cy="0"/>
        </a:xfrm>
      </p:grpSpPr>
      <p:sp>
        <p:nvSpPr>
          <p:cNvPr name="Freeform 2" id="2"/>
          <p:cNvSpPr/>
          <p:nvPr/>
        </p:nvSpPr>
        <p:spPr>
          <a:xfrm flipH="false" flipV="false" rot="0">
            <a:off x="-485035" y="-4485535"/>
            <a:ext cx="19258069" cy="19258069"/>
          </a:xfrm>
          <a:custGeom>
            <a:avLst/>
            <a:gdLst/>
            <a:ahLst/>
            <a:cxnLst/>
            <a:rect r="r" b="b" t="t" l="l"/>
            <a:pathLst>
              <a:path h="19258069" w="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5075" y="1028700"/>
            <a:ext cx="604457" cy="608886"/>
          </a:xfrm>
          <a:custGeom>
            <a:avLst/>
            <a:gdLst/>
            <a:ahLst/>
            <a:cxnLst/>
            <a:rect r="r" b="b" t="t" l="l"/>
            <a:pathLst>
              <a:path h="608886" w="604457">
                <a:moveTo>
                  <a:pt x="0" y="0"/>
                </a:moveTo>
                <a:lnTo>
                  <a:pt x="604457" y="0"/>
                </a:lnTo>
                <a:lnTo>
                  <a:pt x="604457" y="608886"/>
                </a:lnTo>
                <a:lnTo>
                  <a:pt x="0" y="608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33983" y="3152569"/>
            <a:ext cx="16420035" cy="3874815"/>
          </a:xfrm>
          <a:prstGeom prst="rect">
            <a:avLst/>
          </a:prstGeom>
        </p:spPr>
        <p:txBody>
          <a:bodyPr anchor="t" rtlCol="false" tIns="0" lIns="0" bIns="0" rIns="0">
            <a:spAutoFit/>
          </a:bodyPr>
          <a:lstStyle/>
          <a:p>
            <a:pPr algn="ctr">
              <a:lnSpc>
                <a:spcPts val="27108"/>
              </a:lnSpc>
            </a:pPr>
            <a:r>
              <a:rPr lang="en-US" b="true" sz="19362">
                <a:solidFill>
                  <a:srgbClr val="343434"/>
                </a:solidFill>
                <a:latin typeface="Cooper Hewitt Bold"/>
                <a:ea typeface="Cooper Hewitt Bold"/>
                <a:cs typeface="Cooper Hewitt Bold"/>
                <a:sym typeface="Cooper Hewitt Bold"/>
              </a:rPr>
              <a:t>THANK YOU</a:t>
            </a:r>
          </a:p>
        </p:txBody>
      </p:sp>
      <p:sp>
        <p:nvSpPr>
          <p:cNvPr name="Freeform 5" id="5"/>
          <p:cNvSpPr/>
          <p:nvPr/>
        </p:nvSpPr>
        <p:spPr>
          <a:xfrm flipH="false" flipV="false" rot="-1354446">
            <a:off x="15843106" y="2606653"/>
            <a:ext cx="1497033" cy="2339114"/>
          </a:xfrm>
          <a:custGeom>
            <a:avLst/>
            <a:gdLst/>
            <a:ahLst/>
            <a:cxnLst/>
            <a:rect r="r" b="b" t="t" l="l"/>
            <a:pathLst>
              <a:path h="2339114" w="1497033">
                <a:moveTo>
                  <a:pt x="0" y="0"/>
                </a:moveTo>
                <a:lnTo>
                  <a:pt x="1497033" y="0"/>
                </a:lnTo>
                <a:lnTo>
                  <a:pt x="1497033" y="2339115"/>
                </a:lnTo>
                <a:lnTo>
                  <a:pt x="0" y="23391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885027">
            <a:off x="5092713" y="2195823"/>
            <a:ext cx="2206219" cy="1740908"/>
          </a:xfrm>
          <a:custGeom>
            <a:avLst/>
            <a:gdLst/>
            <a:ahLst/>
            <a:cxnLst/>
            <a:rect r="r" b="b" t="t" l="l"/>
            <a:pathLst>
              <a:path h="1740908" w="2206219">
                <a:moveTo>
                  <a:pt x="0" y="0"/>
                </a:moveTo>
                <a:lnTo>
                  <a:pt x="2206220" y="0"/>
                </a:lnTo>
                <a:lnTo>
                  <a:pt x="2206220" y="1740908"/>
                </a:lnTo>
                <a:lnTo>
                  <a:pt x="0" y="17409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91839" y="8205407"/>
            <a:ext cx="4202073" cy="2521244"/>
          </a:xfrm>
          <a:custGeom>
            <a:avLst/>
            <a:gdLst/>
            <a:ahLst/>
            <a:cxnLst/>
            <a:rect r="r" b="b" t="t" l="l"/>
            <a:pathLst>
              <a:path h="2521244" w="4202073">
                <a:moveTo>
                  <a:pt x="0" y="0"/>
                </a:moveTo>
                <a:lnTo>
                  <a:pt x="4202074" y="0"/>
                </a:lnTo>
                <a:lnTo>
                  <a:pt x="4202074" y="2521245"/>
                </a:lnTo>
                <a:lnTo>
                  <a:pt x="0" y="252124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839221">
            <a:off x="9785300" y="7617346"/>
            <a:ext cx="1170380" cy="2030628"/>
          </a:xfrm>
          <a:custGeom>
            <a:avLst/>
            <a:gdLst/>
            <a:ahLst/>
            <a:cxnLst/>
            <a:rect r="r" b="b" t="t" l="l"/>
            <a:pathLst>
              <a:path h="2030628" w="1170380">
                <a:moveTo>
                  <a:pt x="0" y="0"/>
                </a:moveTo>
                <a:lnTo>
                  <a:pt x="1170381" y="0"/>
                </a:lnTo>
                <a:lnTo>
                  <a:pt x="1170381" y="2030628"/>
                </a:lnTo>
                <a:lnTo>
                  <a:pt x="0" y="203062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9" id="9"/>
          <p:cNvSpPr txBox="true"/>
          <p:nvPr/>
        </p:nvSpPr>
        <p:spPr>
          <a:xfrm rot="0">
            <a:off x="16253563" y="8991600"/>
            <a:ext cx="1005737" cy="266700"/>
          </a:xfrm>
          <a:prstGeom prst="rect">
            <a:avLst/>
          </a:prstGeom>
        </p:spPr>
        <p:txBody>
          <a:bodyPr anchor="t" rtlCol="false" tIns="0" lIns="0" bIns="0" rIns="0">
            <a:spAutoFit/>
          </a:bodyPr>
          <a:lstStyle/>
          <a:p>
            <a:pPr algn="r">
              <a:lnSpc>
                <a:spcPts val="2100"/>
              </a:lnSpc>
            </a:pPr>
            <a:r>
              <a:rPr lang="en-US" sz="1500" b="true">
                <a:solidFill>
                  <a:srgbClr val="343434"/>
                </a:solidFill>
                <a:latin typeface="DM Sans Bold"/>
                <a:ea typeface="DM Sans Bold"/>
                <a:cs typeface="DM Sans Bold"/>
                <a:sym typeface="DM Sans Bold"/>
              </a:rPr>
              <a:t>Page 10</a:t>
            </a:r>
          </a:p>
        </p:txBody>
      </p:sp>
      <p:sp>
        <p:nvSpPr>
          <p:cNvPr name="TextBox 10" id="10"/>
          <p:cNvSpPr txBox="true"/>
          <p:nvPr/>
        </p:nvSpPr>
        <p:spPr>
          <a:xfrm rot="0">
            <a:off x="1763458" y="1111346"/>
            <a:ext cx="1754287" cy="472169"/>
          </a:xfrm>
          <a:prstGeom prst="rect">
            <a:avLst/>
          </a:prstGeom>
        </p:spPr>
        <p:txBody>
          <a:bodyPr anchor="t" rtlCol="false" tIns="0" lIns="0" bIns="0" rIns="0">
            <a:spAutoFit/>
          </a:bodyPr>
          <a:lstStyle/>
          <a:p>
            <a:pPr algn="l">
              <a:lnSpc>
                <a:spcPts val="1822"/>
              </a:lnSpc>
            </a:pPr>
            <a:r>
              <a:rPr lang="en-US" b="true" sz="1804" spc="-110">
                <a:solidFill>
                  <a:srgbClr val="343434"/>
                </a:solidFill>
                <a:latin typeface="DM Sans Bold"/>
                <a:ea typeface="DM Sans Bold"/>
                <a:cs typeface="DM Sans Bold"/>
                <a:sym typeface="DM Sans Bold"/>
              </a:rPr>
              <a:t>FRANCISZEK</a:t>
            </a:r>
          </a:p>
          <a:p>
            <a:pPr algn="l">
              <a:lnSpc>
                <a:spcPts val="1822"/>
              </a:lnSpc>
            </a:pPr>
            <a:r>
              <a:rPr lang="en-US" b="true" sz="1804" spc="-110">
                <a:solidFill>
                  <a:srgbClr val="343434"/>
                </a:solidFill>
                <a:latin typeface="DM Sans Bold"/>
                <a:ea typeface="DM Sans Bold"/>
                <a:cs typeface="DM Sans Bold"/>
                <a:sym typeface="DM Sans Bold"/>
              </a:rPr>
              <a:t>KALEMBKIEIWCZ</a:t>
            </a:r>
          </a:p>
        </p:txBody>
      </p:sp>
      <p:sp>
        <p:nvSpPr>
          <p:cNvPr name="TextBox 11" id="11"/>
          <p:cNvSpPr txBox="true"/>
          <p:nvPr/>
        </p:nvSpPr>
        <p:spPr>
          <a:xfrm rot="0">
            <a:off x="2640602" y="6274910"/>
            <a:ext cx="11228535" cy="1209674"/>
          </a:xfrm>
          <a:prstGeom prst="rect">
            <a:avLst/>
          </a:prstGeom>
        </p:spPr>
        <p:txBody>
          <a:bodyPr anchor="t" rtlCol="false" tIns="0" lIns="0" bIns="0" rIns="0">
            <a:spAutoFit/>
          </a:bodyPr>
          <a:lstStyle/>
          <a:p>
            <a:pPr algn="l">
              <a:lnSpc>
                <a:spcPts val="8400"/>
              </a:lnSpc>
            </a:pPr>
            <a:r>
              <a:rPr lang="en-US" sz="6000">
                <a:solidFill>
                  <a:srgbClr val="343434"/>
                </a:solidFill>
                <a:latin typeface="Cooper Hewitt"/>
                <a:ea typeface="Cooper Hewitt"/>
                <a:cs typeface="Cooper Hewitt"/>
                <a:sym typeface="Cooper Hewitt"/>
              </a:rPr>
              <a:t>FEEL FREE TO ASK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DAGlSJES9yI</dc:identifier>
  <dcterms:modified xsi:type="dcterms:W3CDTF">2011-08-01T06:04:30Z</dcterms:modified>
  <cp:revision>1</cp:revision>
  <dc:title>Pink and Purple Illustrative Computer Technology Presentation</dc:title>
</cp:coreProperties>
</file>